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318" r:id="rId2"/>
    <p:sldId id="257" r:id="rId3"/>
    <p:sldId id="258" r:id="rId4"/>
    <p:sldId id="313" r:id="rId5"/>
    <p:sldId id="259" r:id="rId6"/>
    <p:sldId id="261" r:id="rId7"/>
    <p:sldId id="320" r:id="rId8"/>
    <p:sldId id="319" r:id="rId9"/>
    <p:sldId id="321" r:id="rId10"/>
    <p:sldId id="323" r:id="rId11"/>
    <p:sldId id="322" r:id="rId12"/>
    <p:sldId id="324" r:id="rId13"/>
    <p:sldId id="325" r:id="rId14"/>
    <p:sldId id="316" r:id="rId15"/>
    <p:sldId id="279" r:id="rId16"/>
    <p:sldId id="326" r:id="rId17"/>
    <p:sldId id="317" r:id="rId18"/>
  </p:sldIdLst>
  <p:sldSz cx="12192000" cy="6858000"/>
  <p:notesSz cx="6858000" cy="9144000"/>
  <p:embeddedFontLst>
    <p:embeddedFont>
      <p:font typeface="Abadi" panose="020B0604020104020204" pitchFamily="34" charset="0"/>
      <p:regular r:id="rId20"/>
      <p:bold r:id="rId21"/>
    </p:embeddedFon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A9F5A-F3E0-409F-86ED-4DDB6A7DABB8}" v="62" dt="2026-04-10T05:59:31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3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u sriramula" userId="33be948b23a70524" providerId="LiveId" clId="{002DEF4D-ED10-4EB0-9145-6AE203687E00}"/>
    <pc:docChg chg="custSel modSld sldOrd">
      <pc:chgData name="chandu sriramula" userId="33be948b23a70524" providerId="LiveId" clId="{002DEF4D-ED10-4EB0-9145-6AE203687E00}" dt="2026-04-10T09:49:11.109" v="9"/>
      <pc:docMkLst>
        <pc:docMk/>
      </pc:docMkLst>
      <pc:sldChg chg="modSp mod">
        <pc:chgData name="chandu sriramula" userId="33be948b23a70524" providerId="LiveId" clId="{002DEF4D-ED10-4EB0-9145-6AE203687E00}" dt="2026-04-10T09:43:13.549" v="7" actId="1036"/>
        <pc:sldMkLst>
          <pc:docMk/>
          <pc:sldMk cId="0" sldId="318"/>
        </pc:sldMkLst>
        <pc:picChg chg="mod">
          <ac:chgData name="chandu sriramula" userId="33be948b23a70524" providerId="LiveId" clId="{002DEF4D-ED10-4EB0-9145-6AE203687E00}" dt="2026-04-10T09:43:13.549" v="7" actId="1036"/>
          <ac:picMkLst>
            <pc:docMk/>
            <pc:sldMk cId="0" sldId="318"/>
            <ac:picMk id="98" creationId="{00000000-0000-0000-0000-000000000000}"/>
          </ac:picMkLst>
        </pc:picChg>
      </pc:sldChg>
      <pc:sldChg chg="addSp delSp mod">
        <pc:chgData name="chandu sriramula" userId="33be948b23a70524" providerId="LiveId" clId="{002DEF4D-ED10-4EB0-9145-6AE203687E00}" dt="2026-04-10T09:36:58.004" v="1" actId="22"/>
        <pc:sldMkLst>
          <pc:docMk/>
          <pc:sldMk cId="24790300" sldId="320"/>
        </pc:sldMkLst>
        <pc:picChg chg="add">
          <ac:chgData name="chandu sriramula" userId="33be948b23a70524" providerId="LiveId" clId="{002DEF4D-ED10-4EB0-9145-6AE203687E00}" dt="2026-04-10T09:36:58.004" v="1" actId="22"/>
          <ac:picMkLst>
            <pc:docMk/>
            <pc:sldMk cId="24790300" sldId="320"/>
            <ac:picMk id="3" creationId="{0C0B93BC-AAFD-4E30-6441-EABB541D3513}"/>
          </ac:picMkLst>
        </pc:picChg>
        <pc:picChg chg="del">
          <ac:chgData name="chandu sriramula" userId="33be948b23a70524" providerId="LiveId" clId="{002DEF4D-ED10-4EB0-9145-6AE203687E00}" dt="2026-04-10T09:36:56.648" v="0" actId="478"/>
          <ac:picMkLst>
            <pc:docMk/>
            <pc:sldMk cId="24790300" sldId="320"/>
            <ac:picMk id="5" creationId="{D1C140F2-5C50-9F03-4B40-BB2B4DDEDAEC}"/>
          </ac:picMkLst>
        </pc:picChg>
      </pc:sldChg>
      <pc:sldChg chg="addSp delSp mod">
        <pc:chgData name="chandu sriramula" userId="33be948b23a70524" providerId="LiveId" clId="{002DEF4D-ED10-4EB0-9145-6AE203687E00}" dt="2026-04-10T09:37:58.784" v="3" actId="22"/>
        <pc:sldMkLst>
          <pc:docMk/>
          <pc:sldMk cId="1890834130" sldId="321"/>
        </pc:sldMkLst>
        <pc:picChg chg="add">
          <ac:chgData name="chandu sriramula" userId="33be948b23a70524" providerId="LiveId" clId="{002DEF4D-ED10-4EB0-9145-6AE203687E00}" dt="2026-04-10T09:37:58.784" v="3" actId="22"/>
          <ac:picMkLst>
            <pc:docMk/>
            <pc:sldMk cId="1890834130" sldId="321"/>
            <ac:picMk id="3" creationId="{D854A370-876C-BFA5-9D36-9E5EB117D036}"/>
          </ac:picMkLst>
        </pc:picChg>
        <pc:picChg chg="del">
          <ac:chgData name="chandu sriramula" userId="33be948b23a70524" providerId="LiveId" clId="{002DEF4D-ED10-4EB0-9145-6AE203687E00}" dt="2026-04-10T09:37:57.868" v="2" actId="478"/>
          <ac:picMkLst>
            <pc:docMk/>
            <pc:sldMk cId="1890834130" sldId="321"/>
            <ac:picMk id="5" creationId="{2E5E7077-3ED8-8139-C4CE-371CBC8B12A0}"/>
          </ac:picMkLst>
        </pc:picChg>
      </pc:sldChg>
      <pc:sldChg chg="addSp delSp mod">
        <pc:chgData name="chandu sriramula" userId="33be948b23a70524" providerId="LiveId" clId="{002DEF4D-ED10-4EB0-9145-6AE203687E00}" dt="2026-04-10T09:38:42.688" v="5" actId="22"/>
        <pc:sldMkLst>
          <pc:docMk/>
          <pc:sldMk cId="3613510400" sldId="322"/>
        </pc:sldMkLst>
        <pc:picChg chg="del">
          <ac:chgData name="chandu sriramula" userId="33be948b23a70524" providerId="LiveId" clId="{002DEF4D-ED10-4EB0-9145-6AE203687E00}" dt="2026-04-10T09:38:41.762" v="4" actId="478"/>
          <ac:picMkLst>
            <pc:docMk/>
            <pc:sldMk cId="3613510400" sldId="322"/>
            <ac:picMk id="5" creationId="{B141C17B-B5CB-BA9B-8592-F0556FDE39CC}"/>
          </ac:picMkLst>
        </pc:picChg>
        <pc:picChg chg="add">
          <ac:chgData name="chandu sriramula" userId="33be948b23a70524" providerId="LiveId" clId="{002DEF4D-ED10-4EB0-9145-6AE203687E00}" dt="2026-04-10T09:38:42.688" v="5" actId="22"/>
          <ac:picMkLst>
            <pc:docMk/>
            <pc:sldMk cId="3613510400" sldId="322"/>
            <ac:picMk id="6" creationId="{C9B5F8E9-6D50-30C1-A73A-A03A56994A87}"/>
          </ac:picMkLst>
        </pc:picChg>
      </pc:sldChg>
      <pc:sldChg chg="ord">
        <pc:chgData name="chandu sriramula" userId="33be948b23a70524" providerId="LiveId" clId="{002DEF4D-ED10-4EB0-9145-6AE203687E00}" dt="2026-04-10T09:49:11.109" v="9"/>
        <pc:sldMkLst>
          <pc:docMk/>
          <pc:sldMk cId="3315666000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5959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hul-yadav-0959ba29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227415" y="-278617"/>
            <a:ext cx="12333276" cy="71661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92695" y="3716937"/>
            <a:ext cx="1014785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4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Global EV Sales Analysis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139" y="5051352"/>
            <a:ext cx="4710034" cy="180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Punyamurthy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Ratna Yadav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Batch.No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470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Innomatics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953729" y="1445342"/>
            <a:ext cx="934064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My Name is </a:t>
            </a:r>
            <a:r>
              <a:rPr lang="en-IN" sz="20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Punyamurthy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Rahul Ratna Yadav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I’m a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recent Graduate in Bachelor of Technology in Artificial Intelligence and Data Science from </a:t>
            </a:r>
            <a:r>
              <a:rPr lang="en-IN" sz="20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GuruNanak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Institutions of Technology  .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I want to be a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Data Analyst 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to do data exploration ,analysis ,create reports and dashboards ,decision-making.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LinkedIn 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: </a:t>
            </a:r>
            <a:r>
              <a:rPr lang="en-IN" sz="2000" u="sng" dirty="0">
                <a:latin typeface="Abadi" panose="020B0604020104020204" pitchFamily="34" charset="0"/>
                <a:hlinkClick r:id="rId3"/>
              </a:rPr>
              <a:t>https://www.linkedin.com/in/rahul-yadav-0959ba299</a:t>
            </a:r>
            <a:r>
              <a:rPr lang="en-IN" sz="2000" dirty="0">
                <a:latin typeface="Abadi" panose="020B0604020104020204" pitchFamily="34" charset="0"/>
              </a:rPr>
              <a:t> </a:t>
            </a:r>
            <a:endParaRPr lang="en-IN" sz="2000" dirty="0">
              <a:solidFill>
                <a:schemeClr val="accent1"/>
              </a:solidFill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GitHub : </a:t>
            </a:r>
            <a:r>
              <a:rPr lang="en-IN" sz="2400" dirty="0">
                <a:solidFill>
                  <a:schemeClr val="accent1"/>
                </a:solidFill>
                <a:latin typeface="Abadi" panose="020B0604020104020204" pitchFamily="34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https://github.com/Rahulyadav1625</a:t>
            </a:r>
            <a:endParaRPr sz="2400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465400" y="655679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502020204030203"/>
              <a:buNone/>
            </a:pPr>
            <a:r>
              <a:rPr 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About</a:t>
            </a:r>
            <a:r>
              <a:rPr lang="en-IN" sz="3200" b="0" i="0" u="sng" strike="noStrike" cap="none" dirty="0">
                <a:solidFill>
                  <a:srgbClr val="FF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 </a:t>
            </a:r>
            <a:r>
              <a:rPr 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me</a:t>
            </a:r>
            <a:endParaRPr sz="1800" b="0" i="0" u="sng" strike="noStrike" cap="none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b="1" dirty="0">
                <a:solidFill>
                  <a:srgbClr val="FF0000"/>
                </a:solidFill>
              </a:rPr>
              <a:t> 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" name="Google Shape;111;p4">
            <a:extLst>
              <a:ext uri="{FF2B5EF4-FFF2-40B4-BE49-F238E27FC236}">
                <a16:creationId xmlns:a16="http://schemas.microsoft.com/office/drawing/2014/main" id="{FA90D2E9-0F71-025A-0E9F-A191BD940871}"/>
              </a:ext>
            </a:extLst>
          </p:cNvPr>
          <p:cNvSpPr txBox="1">
            <a:spLocks/>
          </p:cNvSpPr>
          <p:nvPr/>
        </p:nvSpPr>
        <p:spPr>
          <a:xfrm>
            <a:off x="1467928" y="681036"/>
            <a:ext cx="9662188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SzPts val="24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Business Problem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 view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 Board Visualization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 marL="0" indent="0">
              <a:buSzPts val="2800"/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9FAC-62E5-22F5-12C8-BE3B5EC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27663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E5E6A-B1A5-BE1F-AEA5-7651FF8F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EV adoption globally and how does that helps other countries or cities to evolve in the same factor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Clear Insights into :</a:t>
            </a:r>
          </a:p>
          <a:p>
            <a:pPr marL="6286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Dominate EV Sales ?</a:t>
            </a:r>
          </a:p>
          <a:p>
            <a:pPr marL="6286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trends over time </a:t>
            </a:r>
          </a:p>
          <a:p>
            <a:pPr marL="6286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year this EV boom has happened  ?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for data-driven understanding of EV market </a:t>
            </a:r>
          </a:p>
        </p:txBody>
      </p:sp>
    </p:spTree>
    <p:extLst>
      <p:ext uri="{BB962C8B-B14F-4D97-AF65-F5344CB8AC3E}">
        <p14:creationId xmlns:p14="http://schemas.microsoft.com/office/powerpoint/2010/main" val="6700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5688" y="1690688"/>
            <a:ext cx="9879991" cy="313996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sales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growth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countries and the EV types </a:t>
            </a: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performance using 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the countries to use the EVs to help the environment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569897"/>
            <a:ext cx="10515600" cy="916019"/>
          </a:xfrm>
          <a:prstGeom prst="rect">
            <a:avLst/>
          </a:prstGeom>
        </p:spPr>
        <p:txBody>
          <a:bodyPr vert="horz" wrap="square" lIns="0" tIns="2239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9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22282"/>
            <a:ext cx="10515600" cy="811248"/>
          </a:xfrm>
          <a:prstGeom prst="rect">
            <a:avLst/>
          </a:prstGeom>
        </p:spPr>
        <p:txBody>
          <a:bodyPr vert="horz" wrap="square" lIns="0" tIns="120142" rIns="0" bIns="0" rtlCol="0">
            <a:spAutoFit/>
          </a:bodyPr>
          <a:lstStyle/>
          <a:p>
            <a:pPr marL="161925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795" y="1835294"/>
            <a:ext cx="9603525" cy="3187411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5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z="28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nulls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Rate, Market Share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</a:t>
            </a:r>
            <a:r>
              <a:rPr sz="2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</a:t>
            </a:r>
            <a:r>
              <a:rPr sz="28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sz="2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69501-8780-5DDA-B576-B137FB07F6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42333"/>
            <a:ext cx="12192000" cy="622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771784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4127" y="1565929"/>
            <a:ext cx="9643745" cy="447943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 :</a:t>
            </a:r>
          </a:p>
          <a:p>
            <a:pPr marL="12700">
              <a:spcBef>
                <a:spcPts val="775"/>
              </a:spcBef>
            </a:pPr>
            <a:endParaRPr lang="en-US" sz="2000" b="1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Filled Map , Clustered Bar Chart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To Show geographic dominance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: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Leads the world with over 11 million sales in 2024, Representing nearly 50% of its domestic car market 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Stagnating growth (20 % ) share dure to phasing out of subsidy schemes in major markets 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Moderate growth (~ 10% ) reaching in a 1 in 10 sales share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0CC855-7495-CA53-4E46-58750114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3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48A1-7A57-D839-C343-4F605B65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085C73-BE3E-D08A-BD5A-A18E73BBD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692" y="146751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5DB48A-470F-76A1-6876-69F21FC511B1}"/>
              </a:ext>
            </a:extLst>
          </p:cNvPr>
          <p:cNvSpPr txBox="1"/>
          <p:nvPr/>
        </p:nvSpPr>
        <p:spPr>
          <a:xfrm>
            <a:off x="393539" y="1056643"/>
            <a:ext cx="10524333" cy="464357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Trian Analysis :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Donut chart , Stacked Column  Chart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Battery Electric Vehicles (BEV) vs. Plug-in Hybrids (PHEV).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: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BEVs :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 the dominate choice, accounting for roughly 70% of all electric sales globally 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PHEVs :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Seeing a resurgence in China, where sales surged by 78% in late 2024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endParaRPr lang="en-US" sz="24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F343-0205-DB48-3C4B-4EE52918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70D74-C520-6EE9-8C15-06C699D07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433" y="1889685"/>
            <a:ext cx="10515600" cy="4351338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5F4F5-627A-1CF7-2A2C-A1F5EDA3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3" y="0"/>
            <a:ext cx="12388646" cy="62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1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A3DB-E7BD-FC40-8CC8-AF6AAFD2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EC54CE-9597-E3DB-15BE-2AA39ECB7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692" y="146751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F6BFAD-1B0A-AA3D-BB6F-9374A4FB6F94}"/>
              </a:ext>
            </a:extLst>
          </p:cNvPr>
          <p:cNvSpPr txBox="1"/>
          <p:nvPr/>
        </p:nvSpPr>
        <p:spPr>
          <a:xfrm>
            <a:off x="706057" y="1056643"/>
            <a:ext cx="10211816" cy="369973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: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, KPI Card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"Hockey Stick" growth curve since 2020.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:</a:t>
            </a:r>
          </a:p>
          <a:p>
            <a:pPr marL="469900" indent="-4572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sales exceeded 17 million in 2024, which is a 25% increase from the previous year.</a:t>
            </a:r>
            <a:endParaRPr lang="en-US" sz="24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52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93A4-4757-CBE0-B567-22E9B9D9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8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33DD90-97AE-5C48-81DA-6A178CA87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3946" y="1319653"/>
            <a:ext cx="10515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Breaking: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EV sales share topped 20% for the first time in 2024.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Emerging Hubs: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doubled in Brazil and increased by 60% across other emerging markets in Latin America and Southeast Asia.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Sudden regulatory changes or subsidy removals (e.g., in Germany) directly correlate with immediate sales dips.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Helps the governments design targeted incentive schemes to revive stagnant markets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Planning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Guides the deployment of charging points in high growth regions like southeast Asia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8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44CD-C1DE-EAA2-9F61-6351B1CC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67129"/>
            <a:ext cx="10515600" cy="89971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5747F94-8C95-6641-EC5F-AAE8A32DE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166842"/>
            <a:ext cx="105155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&amp; Integration: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Reconciling datasets from multiple global sources (like IEA and regional databases) that used different reporting periods and vehicle classifications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Sparsity in Emerging Markets: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missing historical sales data for smaller regions in Latin America and Southeast Asia without skewing global growth averages.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DAX Logic: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Developing sophisticated measures to calculate Year-over-Year (YoY) growth and rolling averages that accurately reflect seasonal sales volatility.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04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F704-B137-AA7A-F19F-EF11F1F5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05" y="-8009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6F04A-5E43-0691-5280-89F4DDFAE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395" y="1233896"/>
            <a:ext cx="1077769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Mainstream Adoption: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to electric mobility has reached a global tipping point, with EV sales share consistently exceeding 20% in major markets.</a:t>
            </a: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Decoupling: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China remains the undisputed leader in volume, growth is rapidly accelerating in emerging economies despite stagnation in some traditional European hubs.</a:t>
            </a: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BEV Dominance: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Battery Electric Vehicles (BEVs) continue to lead the powertrain transition, though Plug-in Hybrids (PHEVs) remain a critical bridge for specific regional consumer needs.</a:t>
            </a: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Imperatives: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trends prove that infrastructure availability and stable policy incentives are the two most critical drivers of sustained market growth.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66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CBEC-86AA-9C20-D7B4-533D6901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4F6BB0-9AF2-2F6B-8BEF-5795974B4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103376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Emerging Markets: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Prioritize infrastructure investment in Brazil, Thailand, and Vietnam as they show high growth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Manufacturers should introduce more budget-friendly BEVs to maintain momentum as subsidies fade.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Retention: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loyalty programs for early BEV adopters to prevent them from switching back to ICE or hybrids.</a:t>
            </a:r>
          </a:p>
        </p:txBody>
      </p:sp>
    </p:spTree>
    <p:extLst>
      <p:ext uri="{BB962C8B-B14F-4D97-AF65-F5344CB8AC3E}">
        <p14:creationId xmlns:p14="http://schemas.microsoft.com/office/powerpoint/2010/main" val="331566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740" y="201184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816</Words>
  <Application>Microsoft Office PowerPoint</Application>
  <PresentationFormat>Widescreen</PresentationFormat>
  <Paragraphs>110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Abadi</vt:lpstr>
      <vt:lpstr>Libre Baskerville</vt:lpstr>
      <vt:lpstr>Lato Black</vt:lpstr>
      <vt:lpstr>Times New Roman</vt:lpstr>
      <vt:lpstr>Calibri</vt:lpstr>
      <vt:lpstr>Wingdings</vt:lpstr>
      <vt:lpstr>Office Theme</vt:lpstr>
      <vt:lpstr>PowerPoint Presentation</vt:lpstr>
      <vt:lpstr>PowerPoint Presentation</vt:lpstr>
      <vt:lpstr>Agenda   </vt:lpstr>
      <vt:lpstr>Problem Statement</vt:lpstr>
      <vt:lpstr>Project Overview</vt:lpstr>
      <vt:lpstr>Data Preparation</vt:lpstr>
      <vt:lpstr>PowerPoint Presentation</vt:lpstr>
      <vt:lpstr>Dashboard Visualizations</vt:lpstr>
      <vt:lpstr>PowerPoint Presentation</vt:lpstr>
      <vt:lpstr>Dashboard Visualizations</vt:lpstr>
      <vt:lpstr>PowerPoint Presentation</vt:lpstr>
      <vt:lpstr>Dashboard Visualizations</vt:lpstr>
      <vt:lpstr>Key Insights</vt:lpstr>
      <vt:lpstr>Challenges</vt:lpstr>
      <vt:lpstr>conclusion</vt:lpstr>
      <vt:lpstr>Recommendations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Rahul Yadav</cp:lastModifiedBy>
  <cp:revision>6</cp:revision>
  <dcterms:created xsi:type="dcterms:W3CDTF">2021-02-16T05:19:01Z</dcterms:created>
  <dcterms:modified xsi:type="dcterms:W3CDTF">2026-04-25T08:46:15Z</dcterms:modified>
</cp:coreProperties>
</file>